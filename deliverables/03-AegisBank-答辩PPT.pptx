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【0:00-0:25】开场：AegisBank 是面向银行场景的可信 AI 智能体。我们不展示聊天能力，而是证明一条可信执行链路：计划可审核、风险可解释、确认绑定、执行可回滚、事后可审计。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【0:25-1:20】先讲痛点：银行 Agent 的风险不是“答错一句话”，而是“做错一笔钱”。列五个问题，再映射赛题要求，最后给出主张：把模型限制在“只出计划”，把执行放进控制平面。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【1:20-2:10】用一张对比表说明差异：模型只做计划；所有执行经过同一个网关和执行器；确认绑定的是“这一笔”；失败有状态机和对账；审计可验证。强调：这些不是附加功能，而是产品的核心。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【2:10-3:00】按五层讲：入口、计划、信任、执行、审计。关键点三个：1）计划与执行分离；2）所有工具走同一个执行器，沙箱和审计挂在这一条链上；3）执行前后分别用 ActionEnvelope 和哈希链绑定与留痕。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【3:00-3:45】讲规划：模型只出计划，计划必须过编译器。举两个例子：缺金额会澄清；“分析账单并取消异常订阅”是两步 DAG，第二步依赖第一步的结果变量。plan_hash 让计划可被审核、可被绑定。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【3:45-4:25】风险分级是产品的“语言”：用户看到颜色就知道要付多少注意力。强调规则是确定性的、可解释的，而且引擎只能升不能降——模型说“这很低风险”无效。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【4:25-5:10】这是评审最关心的部分：确认绑定。用户确认的不是“一个意图”，而是一份 envelope，里面有计划哈希、参数哈希、nonce 和过期时间。执行前服务端重算，不一致就 409，而且不执行。再说明幂等与撤权复检。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【5:10-5:55】讲失败路径：重复提交怎么办、部分成功怎么办、结果不确定怎么办。这里体现的是“失败不伪装成功”。补偿不是重新执行一次工具，而是经过网关复检的反向操作，并且写审计。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【5:55-6:35】快速过六项硬要求，不要逐条展开，强调都有自动化测试和可演示入口。沙箱要诚实：进程内演示级，不是 OS 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【6:35-7:10】六场景一句话带过：每类都有自然语言入口、正确分级、审计可见、前端可展示。强调这是“典型能力完整覆盖”，不是生产业务完整性。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【7:10-7:45】三条链路是答辩/视频的核心：账单跨场景、转账累计升级、生日时间快进。说明演示前重置数据，现场可重复。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【7:45-8:25】数字要讲清楚来源：48 工具、49 接口、144 后端测试、22 前端测试、29 项六场景回归、门禁五阶段。强调测试不是摆设：审计链、注入、撤权、回滚都有自动化覆盖。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【8:25-9:05】主动讲边界，反而更可信：Mock 数据、演示 MFA、进程内沙箱、SQLite。然后给下一步路线：2.5 体验、生产化、工程化。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【9:05-9:30】结尾：一句价值主张 + 仓库地址。留 Q&amp;A 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E1F2E"/>
          </a:solidFill>
          <a:ln>
            <a:solidFill>
              <a:srgbClr val="0E1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394960"/>
            <a:ext cx="12191695" cy="73152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8FC9B9"/>
                </a:solidFill>
                <a:latin typeface="Microsoft YaHei"/>
                <a:ea typeface="Microsoft YaHei"/>
              </a:rPr>
              <a:t>人工智能赛道 · 银行 AI 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</a:rPr>
              <a:t>AegisBank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银行 AI 智能体的「可信执行控制平面」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C9D6DF"/>
                </a:solidFill>
                <a:latin typeface="Microsoft YaHei"/>
                <a:ea typeface="Microsoft YaHei"/>
              </a:rPr>
              <a:t>让每一次金融操作：可解释、可控制、可回滚、可审计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9AAAB6"/>
                </a:solidFill>
                <a:latin typeface="Microsoft YaHei"/>
                <a:ea typeface="Microsoft YaHei"/>
              </a:rPr>
              <a:t>github.com/LQZ5885/aegisbank   ·   MIT   ·   6 场景 / 48 工具 / 49 接口 / 144 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0F5C53"/>
                </a:solidFill>
                <a:latin typeface="Microsoft YaHei"/>
                <a:ea typeface="Microsoft YaHei"/>
              </a:rPr>
              <a:t>WHY TRUST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E1F2E"/>
                </a:solidFill>
                <a:latin typeface="Microsoft YaHei"/>
                <a:ea typeface="Microsoft YaHei"/>
              </a:rPr>
              <a:t>银行为什么需要「可信」Agent，而不是聊天机器人？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E1F2E"/>
                </a:solidFill>
                <a:latin typeface="Microsoft YaHei"/>
                <a:ea typeface="Microsoft YaHei"/>
              </a:rPr>
              <a:t>• 模型会编造金融事实：余额、扣款、产品收益都可能被“生成”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E1F2E"/>
                </a:solidFill>
                <a:latin typeface="Microsoft YaHei"/>
                <a:ea typeface="Microsoft YaHei"/>
              </a:rPr>
              <a:t>• 自然语言指令无法直接审核：用户看不见 Agent 将要做什么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E1F2E"/>
                </a:solidFill>
                <a:latin typeface="Microsoft YaHei"/>
                <a:ea typeface="Microsoft YaHei"/>
              </a:rPr>
              <a:t>• 高风险操作缺少分级：转账、挂失、理财申购不能被“一键执行”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E1F2E"/>
                </a:solidFill>
                <a:latin typeface="Microsoft YaHei"/>
                <a:ea typeface="Microsoft YaHei"/>
              </a:rPr>
              <a:t>• 失败没有恢复路径：超时、重复提交、部分成功都可能造成资金风险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E1F2E"/>
                </a:solidFill>
                <a:latin typeface="Microsoft YaHei"/>
                <a:ea typeface="Microsoft YaHei"/>
              </a:rPr>
              <a:t>• 事后无法自证：日志可被裁剪，说不清“谁在何时确认了什么”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600200"/>
            <a:ext cx="3840480" cy="1417320"/>
          </a:xfrm>
          <a:prstGeom prst="roundRect">
            <a:avLst/>
          </a:prstGeom>
          <a:solidFill>
            <a:srgbClr val="F3F6F8"/>
          </a:solidFill>
          <a:ln>
            <a:solidFill>
              <a:srgbClr val="8C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35240" y="1600200"/>
            <a:ext cx="82296" cy="1417320"/>
          </a:xfrm>
          <a:prstGeom prst="roundRect">
            <a:avLst/>
          </a:prstGeom>
          <a:solidFill>
            <a:srgbClr val="8C2F2F"/>
          </a:solidFill>
          <a:ln>
            <a:solidFill>
              <a:srgbClr val="8C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19" y="1728216"/>
            <a:ext cx="3566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8C2F2F"/>
                </a:solidFill>
                <a:latin typeface="Microsoft YaHei"/>
                <a:ea typeface="Microsoft YaHei"/>
              </a:rPr>
              <a:t>赛题硬要求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19" y="2148840"/>
            <a:ext cx="356616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至少 3 个场景 · 绿/黄/红分级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注入防御 · 完整审计 · 异常熔断 · 沙箱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意图 DAG · 中断/回退/人工接管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200400"/>
            <a:ext cx="3840480" cy="141732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3200400"/>
            <a:ext cx="82296" cy="1417320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3328416"/>
            <a:ext cx="3566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0F5C53"/>
                </a:solidFill>
                <a:latin typeface="Microsoft YaHei"/>
                <a:ea typeface="Microsoft YaHei"/>
              </a:rPr>
              <a:t>我们的回答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3749039"/>
            <a:ext cx="356616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不是“更强的模型”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而是“更可信的执行控制平面”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模型只做计划，不掌握执行权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00600"/>
            <a:ext cx="3840480" cy="1143000"/>
          </a:xfrm>
          <a:prstGeom prst="roundRect">
            <a:avLst/>
          </a:prstGeom>
          <a:solidFill>
            <a:srgbClr val="F3F6F8"/>
          </a:solidFill>
          <a:ln>
            <a:solidFill>
              <a:srgbClr val="A96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35240" y="4800600"/>
            <a:ext cx="82296" cy="1143000"/>
          </a:xfrm>
          <a:prstGeom prst="roundRect">
            <a:avLst/>
          </a:prstGeom>
          <a:solidFill>
            <a:srgbClr val="A96713"/>
          </a:solidFill>
          <a:ln>
            <a:solidFill>
              <a:srgbClr val="A96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19" y="4928616"/>
            <a:ext cx="3566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A96713"/>
                </a:solidFill>
                <a:latin typeface="Microsoft YaHei"/>
                <a:ea typeface="Microsoft YaHei"/>
              </a:rPr>
              <a:t>可验证结果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5349240"/>
            <a:ext cx="35661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144 项后端测试 · 29 项六场景回归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审计链在线校验 · 门禁五阶段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AegisBank · 银行 AI 智能体 · 可信执行控制平面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02/14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0F5C53"/>
                </a:solidFill>
                <a:latin typeface="Microsoft YaHei"/>
                <a:ea typeface="Microsoft YaHei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E1F2E"/>
                </a:solidFill>
                <a:latin typeface="Microsoft YaHei"/>
                <a:ea typeface="Microsoft YaHei"/>
              </a:rPr>
              <a:t>定位：从「会聊天」到「可控制」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00200"/>
          <a:ext cx="107899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06240"/>
                <a:gridCol w="51206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普通银行 AI 助手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AegisBank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模型角色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直接调工具 / 生成结果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只生成结构化计划（draft-only）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执行入口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散落在业务代码里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唯一权限网关 + 统一执行器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风险控制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固定阈值 / 事后发现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动态风险：绿/黄/红，只升不降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用户确认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一个“确定”按钮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ActionEnvelope 绑定本次动作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失败处理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报错 / 重试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幂等 + UNKNOWN 对账 + 回滚补偿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审计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业务日志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SHA-256 哈希链 + 证据分层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AegisBank · 银行 AI 智能体 · 可信执行控制平面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03/14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0F5C53"/>
                </a:solidFill>
                <a:latin typeface="Microsoft YaHei"/>
                <a:ea typeface="Microsoft Ya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E1F2E"/>
                </a:solidFill>
                <a:latin typeface="Microsoft YaHei"/>
                <a:ea typeface="Microsoft YaHei"/>
              </a:rPr>
              <a:t>总体架构：一条可审计的执行链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508760" cy="749808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用户入口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600200"/>
            <a:ext cx="4142232" cy="749808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E1F2E"/>
                </a:solidFill>
                <a:latin typeface="Microsoft YaHei"/>
                <a:ea typeface="Microsoft YaHei"/>
              </a:rPr>
              <a:t>React 控制台（7 页）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600200"/>
            <a:ext cx="4142232" cy="749808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E1F2E"/>
                </a:solidFill>
                <a:latin typeface="Microsoft YaHei"/>
                <a:ea typeface="Microsoft YaHei"/>
              </a:rPr>
              <a:t>IM / CLI / Webhook 渠道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32888"/>
            <a:ext cx="1508760" cy="749808"/>
          </a:xfrm>
          <a:prstGeom prst="roundRect">
            <a:avLst/>
          </a:prstGeom>
          <a:solidFill>
            <a:srgbClr val="0E1F2E"/>
          </a:solidFill>
          <a:ln>
            <a:solidFill>
              <a:srgbClr val="0E1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意图与计划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532888"/>
            <a:ext cx="4142232" cy="749808"/>
          </a:xfrm>
          <a:prstGeom prst="roundRect">
            <a:avLst/>
          </a:prstGeom>
          <a:solidFill>
            <a:srgbClr val="F3F6F8"/>
          </a:solidFill>
          <a:ln>
            <a:solidFill>
              <a:srgbClr val="0E1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E1F2E"/>
                </a:solidFill>
                <a:latin typeface="Microsoft YaHei"/>
                <a:ea typeface="Microsoft YaHei"/>
              </a:rPr>
              <a:t>Planner：rule / llm / auto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532888"/>
            <a:ext cx="4142232" cy="749808"/>
          </a:xfrm>
          <a:prstGeom prst="roundRect">
            <a:avLst/>
          </a:prstGeom>
          <a:solidFill>
            <a:srgbClr val="F3F6F8"/>
          </a:solidFill>
          <a:ln>
            <a:solidFill>
              <a:srgbClr val="0E1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E1F2E"/>
                </a:solidFill>
                <a:latin typeface="Microsoft YaHei"/>
                <a:ea typeface="Microsoft YaHei"/>
              </a:rPr>
              <a:t>Plan Compiler：Schema · DAG · plan_hash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65576"/>
            <a:ext cx="1508760" cy="749808"/>
          </a:xfrm>
          <a:prstGeom prst="roundRect">
            <a:avLst/>
          </a:prstGeom>
          <a:solidFill>
            <a:srgbClr val="A96713"/>
          </a:solidFill>
          <a:ln>
            <a:solidFill>
              <a:srgbClr val="A96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信任与编排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3465576"/>
            <a:ext cx="2016252" cy="749808"/>
          </a:xfrm>
          <a:prstGeom prst="roundRect">
            <a:avLst/>
          </a:prstGeom>
          <a:solidFill>
            <a:srgbClr val="F3F6F8"/>
          </a:solidFill>
          <a:ln>
            <a:solidFill>
              <a:srgbClr val="A96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E1F2E"/>
                </a:solidFill>
                <a:latin typeface="Microsoft YaHei"/>
                <a:ea typeface="Microsoft YaHei"/>
              </a:rPr>
              <a:t>动态风险（绿/黄/红）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3420" y="3465576"/>
            <a:ext cx="2016252" cy="749808"/>
          </a:xfrm>
          <a:prstGeom prst="roundRect">
            <a:avLst/>
          </a:prstGeom>
          <a:solidFill>
            <a:srgbClr val="F3F6F8"/>
          </a:solidFill>
          <a:ln>
            <a:solidFill>
              <a:srgbClr val="A96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E1F2E"/>
                </a:solidFill>
                <a:latin typeface="Microsoft YaHei"/>
                <a:ea typeface="Microsoft YaHei"/>
              </a:rPr>
              <a:t>统一权限网关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465576"/>
            <a:ext cx="2016252" cy="749808"/>
          </a:xfrm>
          <a:prstGeom prst="roundRect">
            <a:avLst/>
          </a:prstGeom>
          <a:solidFill>
            <a:srgbClr val="F3F6F8"/>
          </a:solidFill>
          <a:ln>
            <a:solidFill>
              <a:srgbClr val="A96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E1F2E"/>
                </a:solidFill>
                <a:latin typeface="Microsoft YaHei"/>
                <a:ea typeface="Microsoft YaHei"/>
              </a:rPr>
              <a:t>ActionEnvelope 绑定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5380" y="3465576"/>
            <a:ext cx="2016252" cy="749808"/>
          </a:xfrm>
          <a:prstGeom prst="roundRect">
            <a:avLst/>
          </a:prstGeom>
          <a:solidFill>
            <a:srgbClr val="F3F6F8"/>
          </a:solidFill>
          <a:ln>
            <a:solidFill>
              <a:srgbClr val="A96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E1F2E"/>
                </a:solidFill>
                <a:latin typeface="Microsoft YaHei"/>
                <a:ea typeface="Microsoft YaHei"/>
              </a:rPr>
              <a:t>DAG 调度 / 状态机 / 幂等 / 回滚补偿 / 熔断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98264"/>
            <a:ext cx="1508760" cy="749808"/>
          </a:xfrm>
          <a:prstGeom prst="roundRect">
            <a:avLst/>
          </a:prstGeom>
          <a:solidFill>
            <a:srgbClr val="8C2F2F"/>
          </a:solidFill>
          <a:ln>
            <a:solidFill>
              <a:srgbClr val="8C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398264"/>
            <a:ext cx="4142232" cy="749808"/>
          </a:xfrm>
          <a:prstGeom prst="roundRect">
            <a:avLst/>
          </a:prstGeom>
          <a:solidFill>
            <a:srgbClr val="F3F6F8"/>
          </a:solidFill>
          <a:ln>
            <a:solidFill>
              <a:srgbClr val="8C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E1F2E"/>
                </a:solidFill>
                <a:latin typeface="Microsoft YaHei"/>
                <a:ea typeface="Microsoft YaHei"/>
              </a:rPr>
              <a:t>ToolExecutor + Guard 链（沙箱）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4398264"/>
            <a:ext cx="4142232" cy="749808"/>
          </a:xfrm>
          <a:prstGeom prst="roundRect">
            <a:avLst/>
          </a:prstGeom>
          <a:solidFill>
            <a:srgbClr val="F3F6F8"/>
          </a:solidFill>
          <a:ln>
            <a:solidFill>
              <a:srgbClr val="8C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E1F2E"/>
                </a:solidFill>
                <a:latin typeface="Microsoft YaHei"/>
                <a:ea typeface="Microsoft YaHei"/>
              </a:rPr>
              <a:t>Mock Bank Core 工具（48 个）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30952"/>
            <a:ext cx="1508760" cy="749808"/>
          </a:xfrm>
          <a:prstGeom prst="roundRect">
            <a:avLst/>
          </a:prstGeom>
          <a:solidFill>
            <a:srgbClr val="2F4F6B"/>
          </a:solidFill>
          <a:ln>
            <a:solidFill>
              <a:srgbClr val="2F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审计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5330952"/>
            <a:ext cx="4142232" cy="749808"/>
          </a:xfrm>
          <a:prstGeom prst="roundRect">
            <a:avLst/>
          </a:prstGeom>
          <a:solidFill>
            <a:srgbClr val="F3F6F8"/>
          </a:solidFill>
          <a:ln>
            <a:solidFill>
              <a:srgbClr val="2F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E1F2E"/>
                </a:solidFill>
                <a:latin typeface="Microsoft YaHei"/>
                <a:ea typeface="Microsoft YaHei"/>
              </a:rPr>
              <a:t>SHA-256 哈希链 + 证据分层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5330952"/>
            <a:ext cx="4142232" cy="749808"/>
          </a:xfrm>
          <a:prstGeom prst="roundRect">
            <a:avLst/>
          </a:prstGeom>
          <a:solidFill>
            <a:srgbClr val="F3F6F8"/>
          </a:solidFill>
          <a:ln>
            <a:solidFill>
              <a:srgbClr val="2F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E1F2E"/>
                </a:solidFill>
                <a:latin typeface="Microsoft YaHei"/>
                <a:ea typeface="Microsoft YaHei"/>
              </a:rPr>
              <a:t>SQLite（Mock 数据 / 信任表 / 审计）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2350008"/>
            <a:ext cx="0" cy="182880"/>
          </a:xfrm>
          <a:prstGeom prst="line">
            <a:avLst/>
          </a:prstGeom>
          <a:ln>
            <a:solidFill>
              <a:srgbClr val="555F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35040" y="3282696"/>
            <a:ext cx="0" cy="182880"/>
          </a:xfrm>
          <a:prstGeom prst="line">
            <a:avLst/>
          </a:prstGeom>
          <a:ln>
            <a:solidFill>
              <a:srgbClr val="555F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35040" y="4215384"/>
            <a:ext cx="0" cy="182880"/>
          </a:xfrm>
          <a:prstGeom prst="line">
            <a:avLst/>
          </a:prstGeom>
          <a:ln>
            <a:solidFill>
              <a:srgbClr val="555F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35040" y="5148072"/>
            <a:ext cx="0" cy="182880"/>
          </a:xfrm>
          <a:prstGeom prst="line">
            <a:avLst/>
          </a:prstGeom>
          <a:ln>
            <a:solidFill>
              <a:srgbClr val="555F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AegisBank · 银行 AI 智能体 · 可信执行控制平面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04/14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0F5C53"/>
                </a:solidFill>
                <a:latin typeface="Microsoft YaHei"/>
                <a:ea typeface="Microsoft YaHei"/>
              </a:rPr>
              <a:t>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E1F2E"/>
                </a:solidFill>
                <a:latin typeface="Microsoft YaHei"/>
                <a:ea typeface="Microsoft YaHei"/>
              </a:rPr>
              <a:t>意图 → 可审核的 DAG 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Microsoft YaHei"/>
                <a:ea typeface="Microsoft YaHei"/>
              </a:rPr>
              <a:t>模型不执行、不授权；计划必须通过确定性的 Plan Compiler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606040" cy="178308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82296" cy="1783080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23317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0F5C53"/>
                </a:solidFill>
                <a:latin typeface="Microsoft YaHei"/>
                <a:ea typeface="Microsoft YaHei"/>
              </a:rPr>
              <a:t>01 自然语言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331720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向 ACC-2002 转账 880 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606040" cy="178308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39" y="1828800"/>
            <a:ext cx="82296" cy="1783080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956816"/>
            <a:ext cx="23317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0F5C53"/>
                </a:solidFill>
                <a:latin typeface="Microsoft YaHei"/>
                <a:ea typeface="Microsoft YaHei"/>
              </a:rPr>
              <a:t>02 Planner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377440"/>
            <a:ext cx="2331720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ExecutionPlan/v1：steps + depends_on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缺参数 → 澄清；不猜测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828800"/>
            <a:ext cx="2606040" cy="178308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59" y="1828800"/>
            <a:ext cx="82296" cy="1783080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56816"/>
            <a:ext cx="23317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0F5C53"/>
                </a:solidFill>
                <a:latin typeface="Microsoft YaHei"/>
                <a:ea typeface="Microsoft YaHei"/>
              </a:rPr>
              <a:t>03 Compiler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2331720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工具/参数 Schema、DAG 依赖、环检测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规范化 plan_hash（SHA-256）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606040" cy="178308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98280" y="1828800"/>
            <a:ext cx="82296" cy="1783080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59" y="1956816"/>
            <a:ext cx="23317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0F5C53"/>
                </a:solidFill>
                <a:latin typeface="Microsoft YaHei"/>
                <a:ea typeface="Microsoft YaHei"/>
              </a:rPr>
              <a:t>04 可审核计划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2377440"/>
            <a:ext cx="2331720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节点 / 参数 / 权限 / 风险原因全部可见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77639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E1F2E"/>
                </a:solidFill>
                <a:latin typeface="Microsoft YaHei"/>
                <a:ea typeface="Microsoft YaHei"/>
              </a:rPr>
              <a:t>• 规则 Planner 默认离线可用；LLM Planner 可选，失败自动回退并显式标记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E1F2E"/>
                </a:solidFill>
                <a:latin typeface="Microsoft YaHei"/>
                <a:ea typeface="Microsoft YaHei"/>
              </a:rPr>
              <a:t>• 模型候选白名单：不得覆盖用户给定的账户/金额，不得补全用户未提供的收款方，冲突一律转澄清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E1F2E"/>
                </a:solidFill>
                <a:latin typeface="Microsoft YaHei"/>
                <a:ea typeface="Microsoft YaHei"/>
              </a:rPr>
              <a:t>• 计划只是候选：金额、账户、产品必须来自 Mock Bank Core；LLM 不能“编造”金融事实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E1F2E"/>
                </a:solidFill>
                <a:latin typeface="Microsoft YaHei"/>
                <a:ea typeface="Microsoft YaHei"/>
              </a:rPr>
              <a:t>• DAG 支持依赖与变量传递（如：先分析账单 → 再用账单结果取消异常订阅）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AegisBank · 银行 AI 智能体 · 可信执行控制平面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05/14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0F5C53"/>
                </a:solidFill>
                <a:latin typeface="Microsoft YaHei"/>
                <a:ea typeface="Microsoft YaHei"/>
              </a:rPr>
              <a:t>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E1F2E"/>
                </a:solidFill>
                <a:latin typeface="Microsoft YaHei"/>
                <a:ea typeface="Microsoft YaHei"/>
              </a:rPr>
              <a:t>动态风险：绿 / 黄 / 红，只升不降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520440" cy="237744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82296" cy="2377440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9656"/>
            <a:ext cx="3246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0F5C53"/>
                </a:solidFill>
                <a:latin typeface="Microsoft YaHei"/>
                <a:ea typeface="Microsoft YaHei"/>
              </a:rPr>
              <a:t>🟢 绿 · 自动执行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246120" cy="1737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只读查询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账单 / 余额 / 持仓 / 续费提醒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最小权限满足即执行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520440" cy="2377440"/>
          </a:xfrm>
          <a:prstGeom prst="roundRect">
            <a:avLst/>
          </a:prstGeom>
          <a:solidFill>
            <a:srgbClr val="F3F6F8"/>
          </a:solidFill>
          <a:ln>
            <a:solidFill>
              <a:srgbClr val="A96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82296" cy="2377440"/>
          </a:xfrm>
          <a:prstGeom prst="roundRect">
            <a:avLst/>
          </a:prstGeom>
          <a:solidFill>
            <a:srgbClr val="A96713"/>
          </a:solidFill>
          <a:ln>
            <a:solidFill>
              <a:srgbClr val="A96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19656"/>
            <a:ext cx="3246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A96713"/>
                </a:solidFill>
                <a:latin typeface="Microsoft YaHei"/>
                <a:ea typeface="Microsoft YaHei"/>
              </a:rPr>
              <a:t>🟡 黄 · 人工确认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3246120" cy="1737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修改设置或小额动账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单笔 ≤5000 且当日累计 ≤1000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5 分钟内一次确认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520440" cy="2377440"/>
          </a:xfrm>
          <a:prstGeom prst="roundRect">
            <a:avLst/>
          </a:prstGeom>
          <a:solidFill>
            <a:srgbClr val="F3F6F8"/>
          </a:solidFill>
          <a:ln>
            <a:solidFill>
              <a:srgbClr val="8C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82296" cy="2377440"/>
          </a:xfrm>
          <a:prstGeom prst="roundRect">
            <a:avLst/>
          </a:prstGeom>
          <a:solidFill>
            <a:srgbClr val="8C2F2F"/>
          </a:solidFill>
          <a:ln>
            <a:solidFill>
              <a:srgbClr val="8C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19656"/>
            <a:ext cx="3246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8C2F2F"/>
                </a:solidFill>
                <a:latin typeface="Microsoft YaHei"/>
                <a:ea typeface="Microsoft YaHei"/>
              </a:rPr>
              <a:t>🔴 红 · 强验证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3246120" cy="1737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资金变动 / 账户安全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累计 &gt;1000、挂失、改密码、理财申购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确认 + OTP / 模拟生物识别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4434840"/>
          <a:ext cx="106984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0"/>
                <a:gridCol w="3931920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规则（示例）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判定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转账单笔 &gt; 5000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红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今日累计转账 &gt; 1000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红（含本次）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理财申购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红（资金投入）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理财赎回 &gt; 1000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红；≤1000 黄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</a:tr>
              <a:tr h="2743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卡额度/限额 &gt; 5000、挂失/解挂/改密码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红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AegisBank · 银行 AI 智能体 · 可信执行控制平面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06/14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0F5C53"/>
                </a:solidFill>
                <a:latin typeface="Microsoft YaHei"/>
                <a:ea typeface="Microsoft YaHei"/>
              </a:rPr>
              <a:t>GATEWAY +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E1F2E"/>
                </a:solidFill>
                <a:latin typeface="Microsoft YaHei"/>
                <a:ea typeface="Microsoft YaHei"/>
              </a:rPr>
              <a:t>统一网关与 ActionEnvelope：确认的就是这一笔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网关检查顺序（唯一入口）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1 注入扫描：instruction + arguments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2 角色能力：仅 user 可执行银行工具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3 工具授权：撤权立即生效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4 分级决策：allow / confirm / deny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任一节点被拒 → 整条 DAG 阻断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所有工具执行走 ToolExecutor，无旁路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前端不内嵌权限判断；未就绪禁写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5349240" cy="2331720"/>
          </a:xfrm>
          <a:prstGeom prst="roundRect">
            <a:avLst/>
          </a:prstGeom>
          <a:solidFill>
            <a:srgbClr val="F3F6F8"/>
          </a:solidFill>
          <a:ln>
            <a:solidFill>
              <a:srgbClr val="0E1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82296" cy="2331720"/>
          </a:xfrm>
          <a:prstGeom prst="roundRect">
            <a:avLst/>
          </a:prstGeom>
          <a:solidFill>
            <a:srgbClr val="0E1F2E"/>
          </a:solidFill>
          <a:ln>
            <a:solidFill>
              <a:srgbClr val="0E1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28216"/>
            <a:ext cx="50749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0E1F2E"/>
                </a:solidFill>
                <a:latin typeface="Microsoft YaHei"/>
                <a:ea typeface="Microsoft YaHei"/>
              </a:rPr>
              <a:t>ActionEnvelope/v1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5074920" cy="16916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plan_hash · arguments_hash · nonce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expires_at · permission · risk_level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执行前重算；任一不一致 → 409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nonce 一次性；过期/复用均拒绝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160520"/>
            <a:ext cx="5349240" cy="173736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4160520"/>
            <a:ext cx="82296" cy="1737360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288536"/>
            <a:ext cx="50749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0F5C53"/>
                </a:solidFill>
                <a:latin typeface="Microsoft YaHei"/>
                <a:ea typeface="Microsoft YaHei"/>
              </a:rPr>
              <a:t>一致性结果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709159"/>
            <a:ext cx="507492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确认后撤权 → 执行前复检被阻断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重复提交 → 幂等返回首次结果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注入命中 → 整条请求拒绝，无计划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AegisBank · 银行 AI 智能体 · 可信执行控制平面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07/14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0F5C53"/>
                </a:solidFill>
                <a:latin typeface="Microsoft YaHei"/>
                <a:ea typeface="Microsoft YaHei"/>
              </a:rPr>
              <a:t>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E1F2E"/>
                </a:solidFill>
                <a:latin typeface="Microsoft YaHei"/>
                <a:ea typeface="Microsoft YaHei"/>
              </a:rPr>
              <a:t>失败也要可信：幂等 · 状态机 · 回滚补偿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6035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16459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状态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含义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系统行为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AWAITING_CONFIRMATION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等待用户确认（5 分钟有效）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过期自动失效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EXECUTING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执行中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写审计；结果未知转 UNKNOWN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COMPLETED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全部成功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回执 + 审计可回放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UNKNOWN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执行结果不确定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不得自动重复，人工对账/回滚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ROLLED_BACK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逆序补偿成功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补偿审计 + 余额/状态恢复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40880" y="16002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幂等键：同请求只执行一次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重复确认返回首次结果，不重复扣款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多步 DAG 中途失败 → 逆序补偿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补偿同样经网关复检 + 写审计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不可逆步骤：阻止回滚并提示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27 条补偿规格：15 可逆 / 12 不可逆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可暂停/恢复/回滚，人工接管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AegisBank · 银行 AI 智能体 · 可信执行控制平面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08/14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0F5C53"/>
                </a:solidFill>
                <a:latin typeface="Microsoft YaHei"/>
                <a:ea typeface="Microsoft YaHei"/>
              </a:rPr>
              <a:t>HARDENING (2A)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E1F2E"/>
                </a:solidFill>
                <a:latin typeface="Microsoft YaHei"/>
                <a:ea typeface="Microsoft YaHei"/>
              </a:rPr>
              <a:t>赛题硬要求：熔断 · MFA · 沙箱 · 多角色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88136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852160"/>
                <a:gridCol w="30175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能力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实现要点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演示/证据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可疑行为熔断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连续失败 / 短时多次红色 / 注入累计 → 锁定；operator 解锁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运维面板；test_breaker 7 条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MFA Provider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OTP + 模拟生物识别，按工具/风险选择；成功/失败都审计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确认弹窗；test_mfa 10 条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工具沙箱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统一执行器 + Guard：超时/网络阻断/入出体积/白名单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05 页演示；test_sandbox 8 条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多角色撤权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user/operator/auditor 能力矩阵；撤权立即生效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test_authz 9 条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步骤级回滚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compensable + 逆序补偿 + 审计回滚路径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test_compensation 10 条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IM 渠道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IM/CLI/webhook 复用同一网关与确认链路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05 页消息；test_im 7 条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AegisBank · 银行 AI 智能体 · 可信执行控制平面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09/14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0F5C53"/>
                </a:solidFill>
                <a:latin typeface="Microsoft YaHei"/>
                <a:ea typeface="Microsoft YaHei"/>
              </a:rPr>
              <a:t>SIX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E1F2E"/>
                </a:solidFill>
                <a:latin typeface="Microsoft YaHei"/>
                <a:ea typeface="Microsoft YaHei"/>
              </a:rPr>
              <a:t>六个参考场景：全部可用自然语言跑通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040880"/>
                <a:gridCol w="21031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场景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代表指令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风险</a:t>
                      </a:r>
                    </a:p>
                  </a:txBody>
                  <a:tcPr marL="54864" marR="54864" marT="18288" marB="18288">
                    <a:solidFill>
                      <a:srgbClr val="0E1F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账单分析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查询我的本月账单 / 有没有异常扣费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绿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卡片管理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挂失 CARD-9902 / 重置 CARD-8821 密码 / 申请虚拟卡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红 / 黄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智能转账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从 ACC-3003 向 ACC-2002 转账 500 元 / 给妈妈转 500 / 和妈妈、张三 AA 300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黄 → 红（累计）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订阅代扣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我的订阅还有哪些要续费 / 取消异常订阅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绿查询 / 黄取消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理财操作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买 1000 元稳健短债A / 我的理财持仓 / 赎回 500 元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红 / 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跨场景联动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分析我的账单并取消异常订阅 / 帮我准备下个月妈妈的生日，预算 1000 元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1F2E"/>
                          </a:solidFill>
                          <a:latin typeface="Microsoft YaHei"/>
                          <a:ea typeface="Microsoft YaHei"/>
                        </a:rPr>
                        <a:t>黄（DAG）</a:t>
                      </a:r>
                    </a:p>
                  </a:txBody>
                  <a:tcPr marL="54864" marR="54864" marT="18288" marB="18288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8" y="5806440"/>
            <a:ext cx="107899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0F5C53"/>
                </a:solidFill>
                <a:latin typeface="Microsoft YaHei"/>
                <a:ea typeface="Microsoft YaHei"/>
              </a:rPr>
              <a:t>端到端回归：29 项检查全部通过（scripts/scenario-check.py）；所有数据为模拟数据。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AegisBank · 银行 AI 智能体 · 可信执行控制平面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0F5C53"/>
                </a:solidFill>
                <a:latin typeface="Microsoft YaHei"/>
                <a:ea typeface="Microsoft YaHei"/>
              </a:rPr>
              <a:t>GOLDEN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E1F2E"/>
                </a:solidFill>
                <a:latin typeface="Microsoft YaHei"/>
                <a:ea typeface="Microsoft YaHei"/>
              </a:rPr>
              <a:t>三条黄金演示链路（现场可复现）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520440" cy="246888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82296" cy="2468880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9656"/>
            <a:ext cx="3246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0F5C53"/>
                </a:solidFill>
                <a:latin typeface="Microsoft YaHei"/>
                <a:ea typeface="Microsoft YaHei"/>
              </a:rPr>
              <a:t>链路 A · 账单 → 取消异常订阅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246120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查询本月账单（绿）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→ 两步 DAG：分析 + 取消异常订阅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→ 黄色确认 → 订阅状态 cancelled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520440" cy="246888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82296" cy="2468880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19656"/>
            <a:ext cx="3246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0F5C53"/>
                </a:solidFill>
                <a:latin typeface="Microsoft YaHei"/>
                <a:ea typeface="Microsoft YaHei"/>
              </a:rPr>
              <a:t>链路 B · 虚拟卡转账与累计升级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3246120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ACC-3003 转 500（黄）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→ 同日再转 600（累计&gt;1000 → 红）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→ OTP 确认 → 余额 1900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520440" cy="246888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82296" cy="2468880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19656"/>
            <a:ext cx="3246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0F5C53"/>
                </a:solidFill>
                <a:latin typeface="Microsoft YaHei"/>
                <a:ea typeface="Microsoft YaHei"/>
              </a:rPr>
              <a:t>链路 C · 生日跨场景 + 时间快进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3246120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预算 1000 生日 4 步 DAG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→ 锁预算 + 订花/订蛋糕</a:t>
            </a:r>
          </a:p>
          <a:p>
            <a:pPr algn="l"/>
            <a:r>
              <a:rPr sz="1200" b="0">
                <a:solidFill>
                  <a:srgbClr val="0E1F2E"/>
                </a:solidFill>
                <a:latin typeface="Microsoft YaHei"/>
                <a:ea typeface="Microsoft YaHei"/>
              </a:rPr>
              <a:t>→ 时间快进执行到期任务 + 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演示前：bash scripts/seed-demo.sh 重置数据（虚拟卡 3000 元、异常订阅 SUB-3002）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全程展示右侧就绪横幅、风险原因、执行回执、审计校验 —— 不是“黑盒演示”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AegisBank · 银行 AI 智能体 · 可信执行控制平面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0F5C53"/>
                </a:solidFill>
                <a:latin typeface="Microsoft YaHei"/>
                <a:ea typeface="Microsoft YaHei"/>
              </a:rPr>
              <a:t>ENGINEERING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E1F2E"/>
                </a:solidFill>
                <a:latin typeface="Microsoft YaHei"/>
                <a:ea typeface="Microsoft YaHei"/>
              </a:rPr>
              <a:t>工程实现与可验证结果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91640" cy="137160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15087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600" b="1">
                <a:solidFill>
                  <a:srgbClr val="0F5C53"/>
                </a:solidFill>
                <a:latin typeface="Microsoft YaHei"/>
                <a:ea typeface="Microsoft YaHei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0E1F2E"/>
                </a:solidFill>
                <a:latin typeface="Microsoft YaHei"/>
                <a:ea typeface="Microsoft YaHei"/>
              </a:rPr>
              <a:t>银行工具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核心 9 + 场景 25 + 2A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1645920"/>
            <a:ext cx="1691640" cy="137160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1755648"/>
            <a:ext cx="15087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600" b="1">
                <a:solidFill>
                  <a:srgbClr val="0F5C53"/>
                </a:solidFill>
                <a:latin typeface="Microsoft YaHei"/>
                <a:ea typeface="Microsoft YaHei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286000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0E1F2E"/>
                </a:solidFill>
                <a:latin typeface="Microsoft YaHei"/>
                <a:ea typeface="Microsoft YaHei"/>
              </a:rPr>
              <a:t>HTTP 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615184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核心 / 场景 / 2A / 信任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645920"/>
            <a:ext cx="1691640" cy="137160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3" y="1755648"/>
            <a:ext cx="15087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600" b="1">
                <a:solidFill>
                  <a:srgbClr val="0F5C53"/>
                </a:solidFill>
                <a:latin typeface="Microsoft YaHei"/>
                <a:ea typeface="Microsoft YaHei"/>
              </a:rPr>
              <a:t>144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3" y="2286000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0E1F2E"/>
                </a:solidFill>
                <a:latin typeface="Microsoft YaHei"/>
                <a:ea typeface="Microsoft YaHei"/>
              </a:rPr>
              <a:t>后端测试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2615184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15 个测试文件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645920"/>
            <a:ext cx="1691640" cy="137160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755648"/>
            <a:ext cx="15087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600" b="1">
                <a:solidFill>
                  <a:srgbClr val="0F5C53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286000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0E1F2E"/>
                </a:solidFill>
                <a:latin typeface="Microsoft YaHei"/>
                <a:ea typeface="Microsoft YaHei"/>
              </a:rPr>
              <a:t>前端测试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615184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3 个 Vitest 文件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1645920"/>
            <a:ext cx="1691640" cy="137160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1755648"/>
            <a:ext cx="15087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600" b="1">
                <a:solidFill>
                  <a:srgbClr val="0F5C53"/>
                </a:solidFill>
                <a:latin typeface="Microsoft YaHei"/>
                <a:ea typeface="Microsoft YaHei"/>
              </a:rPr>
              <a:t>29/29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2286000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0E1F2E"/>
                </a:solidFill>
                <a:latin typeface="Microsoft YaHei"/>
                <a:ea typeface="Microsoft YaHei"/>
              </a:rPr>
              <a:t>六场景回归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2615184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scripts/scenario-check.py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645920"/>
            <a:ext cx="1691640" cy="1371600"/>
          </a:xfrm>
          <a:prstGeom prst="roundRect">
            <a:avLst/>
          </a:prstGeom>
          <a:solidFill>
            <a:srgbClr val="F3F6F8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755648"/>
            <a:ext cx="15087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600" b="1">
                <a:solidFill>
                  <a:srgbClr val="0F5C53"/>
                </a:solidFill>
                <a:latin typeface="Microsoft YaHei"/>
                <a:ea typeface="Microsoft YaHei"/>
              </a:rPr>
              <a:t>5/5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286000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0E1F2E"/>
                </a:solidFill>
                <a:latin typeface="Microsoft YaHei"/>
                <a:ea typeface="Microsoft YaHei"/>
              </a:rPr>
              <a:t>门禁阶段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615184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encoding/lint/build/test/security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42900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测试矩阵覆盖：意图/契约、API 闭环、信任层 12 类、2A 六项、六场景回归、前端交互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每次提交经 DSH 门禁五阶段 + security 扫描（HIGH=0）；审计链在线校验 valid=true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模块自动发现：新增场景/能力只加一个文件 + 测试，核心装配零改动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文档与实现同基线：README / MASTER-PLAN / ARCHITECTURE / SECURITY / 新手教程 / 交付物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AegisBank · 银行 AI 智能体 · 可信执行控制平面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601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0F5C53"/>
                </a:solidFill>
                <a:latin typeface="Microsoft YaHei"/>
                <a:ea typeface="Microsoft YaHei"/>
              </a:rPr>
              <a:t>BOUNDARIES &amp;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E1F2E"/>
                </a:solidFill>
                <a:latin typeface="Microsoft YaHei"/>
                <a:ea typeface="Microsoft YaHei"/>
              </a:rPr>
              <a:t>诚实边界与下一步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已知边界（不夸大）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全部为 Mock 数据，不接真实银行、不产生真实资金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无登录/真实身份；X-Aegis-Role 为演示头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演示 OTP / 模拟生物识别，非生产 MFA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沙箱为进程内守卫，非 OS 隔离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SQLite 单机；幂等/nonce 无 TTL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多轮上下文与指代消解未实现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E1F2E"/>
                </a:solidFill>
                <a:latin typeface="Microsoft YaHei"/>
                <a:ea typeface="Microsoft YaHei"/>
              </a:rPr>
              <a:t>• 下一步路线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阶段 2.5：人工体验 Dogfooding（三轮）+ 截图更新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生产化：真实身份/MFA/IM、OS 级沙箱、WORM 审计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工程化：幂等/nonce TTL、按用户熔断、真实常驻调度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扩展：多轮上下文、更多跨场景联动、策略可配置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555F6B"/>
                </a:solidFill>
                <a:latin typeface="Microsoft YaHei"/>
                <a:ea typeface="Microsoft YaHei"/>
              </a:rPr>
              <a:t>– 比赛材料：技术文档、PPT、视频、安全自评已就绪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AegisBank · 银行 AI 智能体 · 可信执行控制平面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>
                <a:solidFill>
                  <a:srgbClr val="555F6B"/>
                </a:solidFill>
                <a:latin typeface="Microsoft YaHei"/>
                <a:ea typeface="Microsoft YaHe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E1F2E"/>
          </a:solidFill>
          <a:ln>
            <a:solidFill>
              <a:srgbClr val="0E1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394960"/>
            <a:ext cx="12191695" cy="73152"/>
          </a:xfrm>
          <a:prstGeom prst="roundRect">
            <a:avLst/>
          </a:prstGeom>
          <a:solidFill>
            <a:srgbClr val="0F5C53"/>
          </a:solidFill>
          <a:ln>
            <a:solidFill>
              <a:srgbClr val="0F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8FC9B9"/>
                </a:solidFill>
                <a:latin typeface="Microsoft YaHei"/>
                <a:ea typeface="Microsoft Ya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AegisBank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</a:rPr>
              <a:t>让银行 AI 智能体值得信任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C9D6DF"/>
                </a:solidFill>
                <a:latin typeface="Microsoft YaHei"/>
                <a:ea typeface="Microsoft YaHei"/>
              </a:rPr>
              <a:t>GitHub：github.com/LQZ5885/aegisbank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9AAAB6"/>
                </a:solidFill>
                <a:latin typeface="Microsoft YaHei"/>
                <a:ea typeface="Microsoft YaHei"/>
              </a:rPr>
              <a:t>技术文档 · 安全自评 · 部署说明 · 测试复现见仓库 deliverables/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